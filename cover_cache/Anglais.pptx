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64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15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2011680" cy="4229100"/>
          </a:xfrm>
          <a:prstGeom prst="rect">
            <a:avLst/>
          </a:prstGeom>
          <a:solidFill>
            <a:srgbClr val="1C2F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dirty="0">
                <a:solidFill>
                  <a:srgbClr val="000000"/>
                </a:solidFill>
              </a:rPr>
              <a:t>🗄️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2C3A7"/>
                </a:solidFill>
              </a:rPr>
              <a:t>ISI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0"/>
                </a:solidFill>
              </a:rPr>
              <a:t>2025–2026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EF2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Databases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2834640" y="2267712"/>
            <a:ext cx="32004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834640" y="2377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Building a Real-World App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exploration of database concepts — from relational theory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working Python application you can run today.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931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English  |  Category: Databases &amp; Information Systems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3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Bizerte  ·  Academic Year 2025–2026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A7"/>
                </a:solidFill>
              </a:rPr>
              <a:t>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2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Database?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9601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64008" cy="96012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an organised collection of structured information stored electronically, designed so that data can be easily accessed, managed, and updated.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2240280"/>
            <a:ext cx="2651760" cy="2606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47472" y="2240280"/>
            <a:ext cx="2651760" cy="64008"/>
          </a:xfrm>
          <a:prstGeom prst="rect">
            <a:avLst/>
          </a:prstGeom>
          <a:solidFill>
            <a:srgbClr val="F0607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47472" y="2331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📁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Databases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files, filing cabinets, and handwritten ledgers — slow to search, easy to lose, impossible to share.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2240280"/>
            <a:ext cx="2651760" cy="2606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200400" y="2240280"/>
            <a:ext cx="2651760" cy="64008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200400" y="2331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10128" y="30632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34747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one place, can be queried in milliseconds, updated safely, and accessed by many users at once.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53328" y="2240280"/>
            <a:ext cx="2651760" cy="2606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053328" y="2240280"/>
            <a:ext cx="2651760" cy="64008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053328" y="2331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163056" y="30632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You Look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63056" y="34747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hospitals, universities, streaming platforms, social media — every digital service runs on a database.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Reading List Manager  ·  ISI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A7"/>
                </a:solidFill>
              </a:rPr>
              <a:t>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2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DBMS — The Engine Behind the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Management System (DBMS) is the software that sits between the user and the raw data — handling storage, retrieval, security, and consistency.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594360"/>
          </a:xfrm>
          <a:prstGeom prst="rect">
            <a:avLst/>
          </a:prstGeom>
          <a:solidFill>
            <a:srgbClr val="02C3A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/ Application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30552"/>
            <a:ext cx="7150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queries in SQL or via an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2423160"/>
            <a:ext cx="0" cy="137160"/>
          </a:xfrm>
          <a:prstGeom prst="line">
            <a:avLst/>
          </a:prstGeom>
          <a:noFill/>
          <a:ln w="25400">
            <a:solidFill>
              <a:srgbClr val="02C3A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7955280" cy="594360"/>
          </a:xfrm>
          <a:prstGeom prst="rect">
            <a:avLst/>
          </a:prstGeom>
          <a:solidFill>
            <a:srgbClr val="2438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596896"/>
            <a:ext cx="3579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DBMS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862072"/>
            <a:ext cx="67619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queries, enforces rules, manages 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3154680"/>
            <a:ext cx="0" cy="137160"/>
          </a:xfrm>
          <a:prstGeom prst="line">
            <a:avLst/>
          </a:prstGeom>
          <a:noFill/>
          <a:ln w="25400">
            <a:solidFill>
              <a:srgbClr val="02C3A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822960" y="3291840"/>
            <a:ext cx="7498080" cy="594360"/>
          </a:xfrm>
          <a:prstGeom prst="rect">
            <a:avLst/>
          </a:prstGeom>
          <a:solidFill>
            <a:srgbClr val="1E345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60120" y="3328416"/>
            <a:ext cx="3374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Storage 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593592"/>
            <a:ext cx="6373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pages to disk efficiently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3886200"/>
            <a:ext cx="0" cy="137160"/>
          </a:xfrm>
          <a:prstGeom prst="line">
            <a:avLst/>
          </a:prstGeom>
          <a:noFill/>
          <a:ln w="25400">
            <a:solidFill>
              <a:srgbClr val="02C3A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051560" y="4023360"/>
            <a:ext cx="7040880" cy="5943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188720" y="4059936"/>
            <a:ext cx="3168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💿  Physical Storage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4325112"/>
            <a:ext cx="59847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drives, SSDs — where bytes actually live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solidFill>
            <a:srgbClr val="2438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02920" y="46542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Popular DBMS examples: MySQL · PostgreSQL · SQLite · Oracle · MongoDB · Redis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Reading List Manager  ·  ISI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A7"/>
                </a:solidFill>
              </a:rPr>
              <a:t>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2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Databases &amp; 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703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64008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(Relation)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56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organised in rows and columns — like a spreadsheet with rules.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780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identifier for every row — no duplicates allowed.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843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99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that links one table to another — the glue of relational design.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655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(SQL)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21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 — the universal language for asking questions of your data.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087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ensure data stays consistent and valid at all times.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069080" cy="3703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4069080" cy="64008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46320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 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Create a table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874520"/>
            <a:ext cx="3749040" cy="685800"/>
          </a:xfrm>
          <a:prstGeom prst="rect">
            <a:avLst/>
          </a:prstGeom>
          <a:solidFill>
            <a:srgbClr val="2438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919472" y="190195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books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INTEGER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 VARCHAR(200),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 VARCHAR(100)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679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Insert a row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953512"/>
            <a:ext cx="3749040" cy="685800"/>
          </a:xfrm>
          <a:prstGeom prst="rect">
            <a:avLst/>
          </a:prstGeom>
          <a:solidFill>
            <a:srgbClr val="2438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919472" y="2980944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books (title, author)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('1984', 'Orwell');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758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Query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4032504"/>
            <a:ext cx="3749040" cy="685800"/>
          </a:xfrm>
          <a:prstGeom prst="rect">
            <a:avLst/>
          </a:prstGeom>
          <a:solidFill>
            <a:srgbClr val="2438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919472" y="4059936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title, author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author = 'Dostoevsky';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Reading List Manager  ·  ISI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A7"/>
                </a:solidFill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2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Databases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databases are relational. Different problems call for different data models.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600200"/>
            <a:ext cx="274320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47472" y="1600200"/>
            <a:ext cx="54864" cy="141732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41832" y="1691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" y="19659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PostgreSQL · SQLite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2542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linked by keys. Best for structured data with clear relationships. The industry standard.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73552" y="1600200"/>
            <a:ext cx="274320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73552" y="1600200"/>
            <a:ext cx="54864" cy="141732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38328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67912" y="1691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67912" y="19659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CouchDB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2258568"/>
            <a:ext cx="2542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as JSON-like documents. Flexible schema, great for content or user profiles.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9632" y="1600200"/>
            <a:ext cx="274320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199632" y="1600200"/>
            <a:ext cx="54864" cy="141732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30936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93992" y="1691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93992" y="19659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DynamoDB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2258568"/>
            <a:ext cx="2542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Blazing-fast lookups by key. Perfect for caching, sessions, and real-time leaderboards.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200400"/>
            <a:ext cx="274320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47472" y="3200400"/>
            <a:ext cx="54864" cy="1417320"/>
          </a:xfrm>
          <a:prstGeom prst="rect">
            <a:avLst/>
          </a:prstGeom>
          <a:solidFill>
            <a:srgbClr val="F0607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5720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🕸️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41832" y="32918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" y="35661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· ArangoDB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858768"/>
            <a:ext cx="2542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edges. Built for highly connected data like social networks or recommendation engines.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73552" y="3200400"/>
            <a:ext cx="274320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3273552" y="3200400"/>
            <a:ext cx="54864" cy="1417320"/>
          </a:xfrm>
          <a:prstGeom prst="rect">
            <a:avLst/>
          </a:prstGeom>
          <a:solidFill>
            <a:srgbClr val="8FA8C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338328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867912" y="32918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67912" y="35661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· TimescaleDB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3858768"/>
            <a:ext cx="2542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sequential time-stamped data — IoT sensors, stock prices, server metrics.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99632" y="3200400"/>
            <a:ext cx="274320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6199632" y="3200400"/>
            <a:ext cx="54864" cy="141732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30936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93992" y="32918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 (our app)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93992" y="35661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CSV · XML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858768"/>
            <a:ext cx="2542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human-readable files. No engine required — ideal for small personal projects.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Reading List Manager  ·  ISI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A7"/>
                </a:solidFill>
              </a:rPr>
              <a:t>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2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Databases Matter — ACID &amp; Beyond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don't just store data — they make guarantees about it. These properties are what separate a database from a plain file.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737360"/>
            <a:ext cx="1965960" cy="26517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47472" y="1737360"/>
            <a:ext cx="1965960" cy="64008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C3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47472" y="26974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" y="3072384"/>
            <a:ext cx="1508760" cy="18288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38912" y="3127248"/>
            <a:ext cx="1783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is all-or-nothing. If any step fails, the whole thing rolls back — no partial changes.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78024" y="1737360"/>
            <a:ext cx="1965960" cy="26517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2478024" y="173736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478024" y="18288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2478024" y="26974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06624" y="3072384"/>
            <a:ext cx="1508760" cy="18288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569464" y="3127248"/>
            <a:ext cx="1783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takes the database from one valid state to another. Rules are never broken.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08576" y="1737360"/>
            <a:ext cx="1965960" cy="26517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608576" y="1737360"/>
            <a:ext cx="1965960" cy="640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608576" y="18288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DD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4608576" y="26974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37176" y="3072384"/>
            <a:ext cx="1508760" cy="18288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700016" y="3127248"/>
            <a:ext cx="1783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don't interfere with each other. Each sees a clean snapshot of the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39128" y="1737360"/>
            <a:ext cx="1965960" cy="26517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6739128" y="1737360"/>
            <a:ext cx="1965960" cy="64008"/>
          </a:xfrm>
          <a:prstGeom prst="rect">
            <a:avLst/>
          </a:prstGeom>
          <a:solidFill>
            <a:srgbClr val="F0607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739128" y="18288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6739128" y="26974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67728" y="3072384"/>
            <a:ext cx="1508760" cy="18288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830568" y="3127248"/>
            <a:ext cx="1783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committed, a transaction survives crashes. Data is written to persistent storage.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360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Our app achieves a lightweight form of these properties through JSON file writes and Python's exception handling.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Reading List Manager  ·  ISI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8FA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EF2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Practice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1993392"/>
            <a:ext cx="41148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applied these database concepts to build a real, working application: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Reading List Manager — storing, querying, and persisting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data in structured JSON format, managed entirely in Python.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64992"/>
            <a:ext cx="7498080" cy="365760"/>
          </a:xfrm>
          <a:prstGeom prst="rect">
            <a:avLst/>
          </a:prstGeom>
          <a:solidFill>
            <a:srgbClr val="1C2F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3410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/ Schema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34107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class with typed fields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803904"/>
            <a:ext cx="7498080" cy="365760"/>
          </a:xfrm>
          <a:prstGeom prst="rect">
            <a:avLst/>
          </a:prstGeom>
          <a:solidFill>
            <a:srgbClr val="1C2F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3849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38496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3849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/ update / search methods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242816"/>
            <a:ext cx="7498080" cy="365760"/>
          </a:xfrm>
          <a:prstGeom prst="rect">
            <a:avLst/>
          </a:prstGeom>
          <a:solidFill>
            <a:srgbClr val="1C2F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4288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42885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288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via DEFAULT_SAVE_PATH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Reading List Manager  ·  ISI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Objectives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 Reading List Manager is a standalone desktop application built in Python (Tkinter) that allows readers to track their entire reading journey — from wishlist to completion — with a polished, dark-themed interface inspired by academic database tools.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2103120"/>
            <a:ext cx="1920240" cy="2560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47472" y="2103120"/>
            <a:ext cx="1920240" cy="73152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47472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📚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329184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and remove books with full metadata: title, author, year, pages, language.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96312" y="2103120"/>
            <a:ext cx="1920240" cy="2560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496312" y="2103120"/>
            <a:ext cx="1920240" cy="73152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496312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96312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87752" y="329184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 pages read and visualise progress as a bar and percentage per book.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45152" y="2103120"/>
            <a:ext cx="1920240" cy="2560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645152" y="2103120"/>
            <a:ext cx="1920240" cy="73152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645152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⭐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45152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Comment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36592" y="329184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 each book a score out of 10 and attach personal notes or reviews.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793992" y="2103120"/>
            <a:ext cx="1920240" cy="2560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6793992" y="2103120"/>
            <a:ext cx="1920240" cy="73152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793992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💾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93992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85432" y="329184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reload your list from a JSON file anchored next to the script — works on any machine.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 Manager  ·  ISI 2025–2026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App Architecture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645920" y="1143000"/>
            <a:ext cx="5852160" cy="713232"/>
          </a:xfrm>
          <a:prstGeom prst="rect">
            <a:avLst/>
          </a:prstGeom>
          <a:solidFill>
            <a:srgbClr val="02C3A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645920" y="11887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C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ReadingListGUI.py  —  Tkinter GUI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0" y="1856232"/>
            <a:ext cx="0" cy="137160"/>
          </a:xfrm>
          <a:prstGeom prst="line">
            <a:avLst/>
          </a:prstGeom>
          <a:noFill/>
          <a:ln w="25400">
            <a:solidFill>
              <a:srgbClr val="02C3A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645920" y="1993392"/>
            <a:ext cx="5852160" cy="713232"/>
          </a:xfrm>
          <a:prstGeom prst="rect">
            <a:avLst/>
          </a:prstGeom>
          <a:solidFill>
            <a:srgbClr val="2438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645920" y="20391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920" y="23591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ReadingList.py  —  ReadingList class methods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80560" y="2706624"/>
            <a:ext cx="0" cy="137160"/>
          </a:xfrm>
          <a:prstGeom prst="line">
            <a:avLst/>
          </a:prstGeom>
          <a:noFill/>
          <a:ln w="25400">
            <a:solidFill>
              <a:srgbClr val="02C3A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645920" y="2843784"/>
            <a:ext cx="5852160" cy="713232"/>
          </a:xfrm>
          <a:prstGeom prst="rect">
            <a:avLst/>
          </a:prstGeom>
          <a:solidFill>
            <a:srgbClr val="1E345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1645920" y="28895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LAYER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320954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ReadingList.py  —  Book class + to_dict / from_dict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80560" y="3557016"/>
            <a:ext cx="0" cy="137160"/>
          </a:xfrm>
          <a:prstGeom prst="line">
            <a:avLst/>
          </a:prstGeom>
          <a:noFill/>
          <a:ln w="25400">
            <a:solidFill>
              <a:srgbClr val="02C3A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1645920" y="3694176"/>
            <a:ext cx="5852160" cy="71323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645920" y="373989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45920" y="40599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reading_list.json  —  stored next to the script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 files live in the same folder. The GUI imports Book and ReadingList directly — no database server required.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 Manager  ·  ISI 2025–2026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Core Data Model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3703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C84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🔑 title : str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8196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 : str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year : 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3134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nb_pages : 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OriginalLanguage : str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280720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ReadingLevel : float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05409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 : float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330098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Comments : str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584448"/>
            <a:ext cx="3657600" cy="18288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2920" y="36301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update_reading_level(pages)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update_rating(new_rating)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412394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add_comment(comment)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43708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to_dict() / from_dict()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1097280"/>
            <a:ext cx="3931920" cy="3703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ReadingList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83480" y="15727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books : list[Book]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83480" y="18196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DEFAULT_SAVE_PATH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983480" y="2103120"/>
            <a:ext cx="3657600" cy="18288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983480" y="214884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add_book(book)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83480" y="245059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remove_book(book)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83480" y="275234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get_unread / in_progress / completed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83480" y="305409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SortBooksBy*()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83480" y="335584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search_books(query)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83480" y="36576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save_to_file() / load_from_file()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983480" y="398320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get_statistics()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97680" y="2926080"/>
            <a:ext cx="548640" cy="0"/>
          </a:xfrm>
          <a:prstGeom prst="line">
            <a:avLst/>
          </a:prstGeom>
          <a:noFill/>
          <a:ln w="25400">
            <a:solidFill>
              <a:srgbClr val="02C3A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4133088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 Manager  ·  ISI 2025–2026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&amp; Functionalities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1051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64008" cy="105156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➕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 &amp; Remove Books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16002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 dialog with title, author, year, pages, language. Validation included.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114800" cy="1051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800600" y="1143000"/>
            <a:ext cx="64008" cy="105156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937760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📖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0" y="1234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Progress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0" y="16002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pages read → auto-calculates % and renders a 10-block ASCII bar in the table.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4114800" cy="1051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64008" cy="105156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292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⭐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51560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51560" y="283464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Float score 0–10 per book, averaged in the live stats strip at the top.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2377440"/>
            <a:ext cx="4114800" cy="1051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800600" y="2377440"/>
            <a:ext cx="64008" cy="105156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93776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🔍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0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0" y="283464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by title / author / language. Filter tabs: All, Unread, In Progress, Completed.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4114800" cy="1051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64008" cy="105156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02920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🔄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51560" y="3703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51560" y="406908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Click column headers or use Sort dialog to order by title, author, year, or progress.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00600" y="3611880"/>
            <a:ext cx="4114800" cy="1051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800600" y="3611880"/>
            <a:ext cx="64008" cy="105156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37760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💾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0" y="3703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0" y="406908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JSON persisted next to the script. Auto-prompts on launch, save via sidebar or Ctrl+S.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 Manager  ·  ISI 2025–2026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JSON Persistence Fix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17373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931920" cy="73152"/>
          </a:xfrm>
          <a:prstGeom prst="rect">
            <a:avLst/>
          </a:prstGeom>
          <a:solidFill>
            <a:srgbClr val="F0607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0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main() checked: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"C:\\Users\\Barat\\reading_list.json"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but save_to_file() wrote 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"reading_list.json" (CWD)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→ File existed but was never found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931920" cy="17373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931920" cy="7315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DD6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 The Fix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83480" y="157276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_SCRIPT_DIR = os.path.dirname(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os.path.abspath(__file__))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DEFAULT_SAVE_PATH = os.path.join(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_SCRIPT_DIR, "reading_list.json")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→ Same path, any machine, any CWD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1463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73152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5C8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🆕  New method — update_Json()  (added to ReadingList)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344728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update_Json(self, filename=DEFAULT_SAVE_PATH):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[book.to_dict() for book in self.books]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open(filename, 'w', encoding='utf-8') as f:  json.dump(data, f, indent=2, ensure_ascii=False)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 Manager  ·  ISI 2025–2026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96112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 Redesigned GUI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73736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ISI · 2025–2026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1554480" cy="18288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Books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368296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Unread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523744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67919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990088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145536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➕ Add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300984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📖 Progress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⭐ Rate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1554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💾 Save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194560" y="1078992"/>
            <a:ext cx="6583680" cy="3749040"/>
          </a:xfrm>
          <a:prstGeom prst="rect">
            <a:avLst/>
          </a:prstGeom>
          <a:solidFill>
            <a:srgbClr val="2438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194560" y="1078992"/>
            <a:ext cx="658368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331720" y="1115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My Reading List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1170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Search...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194560" y="1581912"/>
            <a:ext cx="658368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423160" y="1609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23160" y="18013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Books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57600" y="1609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0" y="18013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92040" y="1609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92040" y="18013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26480" y="1609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26480" y="18013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Unread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60920" y="1609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8.2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60920" y="18013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4560" y="2057400"/>
            <a:ext cx="6583680" cy="256032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286000" y="2075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337560" y="2075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389120" y="2075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40680" y="2075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92240" y="2075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43800" y="2075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194560" y="2331720"/>
            <a:ext cx="6583680" cy="338328"/>
          </a:xfrm>
          <a:prstGeom prst="rect">
            <a:avLst/>
          </a:prstGeom>
          <a:solidFill>
            <a:srgbClr val="24385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286000" y="2377440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Crime &amp; Punishment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337560" y="2377440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Dostoevsky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389120" y="2377440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1866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440680" y="2377440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545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92240" y="2377440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██████████  100%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543800" y="2377440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9.5/10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194560" y="2679192"/>
            <a:ext cx="6583680" cy="338328"/>
          </a:xfrm>
          <a:prstGeom prst="rect">
            <a:avLst/>
          </a:prstGeom>
          <a:solidFill>
            <a:srgbClr val="1A3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286000" y="272491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337560" y="272491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George Orwell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389120" y="272491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440680" y="272491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328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492240" y="272491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██████████  100%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543800" y="272491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194560" y="3026664"/>
            <a:ext cx="6583680" cy="338328"/>
          </a:xfrm>
          <a:prstGeom prst="rect">
            <a:avLst/>
          </a:prstGeom>
          <a:solidFill>
            <a:srgbClr val="2A2D1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286000" y="3072384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L'Étranger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337560" y="3072384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Albert Camus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389120" y="3072384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1942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440680" y="3072384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492240" y="3072384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████░░░░░░  40%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543800" y="3072384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194560" y="3374136"/>
            <a:ext cx="6583680" cy="338328"/>
          </a:xfrm>
          <a:prstGeom prst="rect">
            <a:avLst/>
          </a:prstGeom>
          <a:solidFill>
            <a:srgbClr val="24385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286000" y="341985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House of the Dead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3337560" y="341985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Dostoevsky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389120" y="341985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1861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5440680" y="341985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352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492240" y="341985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███░░░░░░░  30%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7543800" y="341985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384048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Dark navy / teal palette matching the ISI presentation identity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 Manager  ·  ISI 2025–2026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07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5029200" cy="27432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868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 Reading List Manager delivers a clean, layered Python architecture with a polished dark GUI, reliable JSON persistence, and a full suite of reading-management features — all in two standalone files.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1664208"/>
            <a:ext cx="457200" cy="4572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00200" y="16824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Bug Fix Delivered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00200" y="192024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absolute path replaced with script-relative DEFAULT_SAVE_PATH — works on any machine.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2304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update_Json() Added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00200" y="254203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method gives the GUI a lightweight write path without touching save_to_file() logic.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05840" y="2907792"/>
            <a:ext cx="457200" cy="4572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00200" y="2926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GUI Overhauled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00200" y="316382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Sidebar layout, live stats strip, progress bars, dark palette — designed to match the ISI presentation.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" y="3529584"/>
            <a:ext cx="457200" cy="4572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00200" y="3547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Next: Export &amp; Stats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00200" y="378561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additions: CSV export, reading streak tracker, chart view of ratings by genre.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05840" y="4151376"/>
            <a:ext cx="457200" cy="4572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0584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00200" y="41696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Next: GitHub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00200" y="440740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Push both files + sample JSON to GitHub for portfolio visibility and version control.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 Manager  ·  ISI 2025–2026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3521864-8D05-C749-DED5-0B03EBF67FD9}"/>
              </a:ext>
            </a:extLst>
          </p:cNvPr>
          <p:cNvSpPr txBox="1"/>
          <p:nvPr/>
        </p:nvSpPr>
        <p:spPr>
          <a:xfrm>
            <a:off x="-720391" y="2835192"/>
            <a:ext cx="8188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fr-FR" sz="44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B844362-DFCC-3440-AFF1-98C32B1E5B82}"/>
              </a:ext>
            </a:extLst>
          </p:cNvPr>
          <p:cNvSpPr txBox="1"/>
          <p:nvPr/>
        </p:nvSpPr>
        <p:spPr>
          <a:xfrm>
            <a:off x="-1342991" y="2835192"/>
            <a:ext cx="7165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fr-FR" sz="44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9E5C8BC-7DCF-3BAF-9F9D-A59F32B71898}"/>
              </a:ext>
            </a:extLst>
          </p:cNvPr>
          <p:cNvSpPr txBox="1"/>
          <p:nvPr/>
        </p:nvSpPr>
        <p:spPr>
          <a:xfrm>
            <a:off x="-1900083" y="2837158"/>
            <a:ext cx="8461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fr-FR" sz="44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563EFDF-072B-2773-EB23-4E7D11398E72}"/>
              </a:ext>
            </a:extLst>
          </p:cNvPr>
          <p:cNvSpPr txBox="1"/>
          <p:nvPr/>
        </p:nvSpPr>
        <p:spPr>
          <a:xfrm>
            <a:off x="-2414133" y="2839124"/>
            <a:ext cx="9100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fr-FR" sz="44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E3EB84A-E3D6-D6B4-8B05-D8E417F54CA8}"/>
              </a:ext>
            </a:extLst>
          </p:cNvPr>
          <p:cNvSpPr txBox="1"/>
          <p:nvPr/>
        </p:nvSpPr>
        <p:spPr>
          <a:xfrm>
            <a:off x="-2878840" y="2837158"/>
            <a:ext cx="9294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fr-FR" sz="440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1FBD4FA-A2A1-698C-141C-FFABD2A302DD}"/>
              </a:ext>
            </a:extLst>
          </p:cNvPr>
          <p:cNvSpPr txBox="1"/>
          <p:nvPr/>
        </p:nvSpPr>
        <p:spPr>
          <a:xfrm>
            <a:off x="9207304" y="2448604"/>
            <a:ext cx="6189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fr-FR" sz="44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0618F40-67DF-81D7-BD22-986FCD813C3B}"/>
              </a:ext>
            </a:extLst>
          </p:cNvPr>
          <p:cNvSpPr txBox="1"/>
          <p:nvPr/>
        </p:nvSpPr>
        <p:spPr>
          <a:xfrm>
            <a:off x="9673113" y="2420468"/>
            <a:ext cx="8581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fr-FR" sz="44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A82A7DF-2432-9A19-9F4E-C585C6B256FE}"/>
              </a:ext>
            </a:extLst>
          </p:cNvPr>
          <p:cNvSpPr txBox="1"/>
          <p:nvPr/>
        </p:nvSpPr>
        <p:spPr>
          <a:xfrm>
            <a:off x="10044437" y="2414339"/>
            <a:ext cx="486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fr-FR" sz="440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81D4C27-78FE-9F27-D096-FE39D555B219}"/>
              </a:ext>
            </a:extLst>
          </p:cNvPr>
          <p:cNvSpPr txBox="1"/>
          <p:nvPr/>
        </p:nvSpPr>
        <p:spPr>
          <a:xfrm>
            <a:off x="10480746" y="2442395"/>
            <a:ext cx="3610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fr-FR" sz="4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A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📚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3154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C3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Reading List Manager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3657600"/>
            <a:ext cx="2743200" cy="27432"/>
          </a:xfrm>
          <a:prstGeom prst="rect">
            <a:avLst/>
          </a:prstGeom>
          <a:solidFill>
            <a:srgbClr val="1E345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A8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ISI — Higher Institute of Computer Science  ·  2025–2026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00362DC-7645-6346-3676-EDC135DA8DA0}"/>
              </a:ext>
            </a:extLst>
          </p:cNvPr>
          <p:cNvSpPr txBox="1"/>
          <p:nvPr/>
        </p:nvSpPr>
        <p:spPr>
          <a:xfrm>
            <a:off x="2458907" y="2420195"/>
            <a:ext cx="8188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fr-FR" sz="44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CDC3063-73C7-534A-1D0A-AB80B2961178}"/>
              </a:ext>
            </a:extLst>
          </p:cNvPr>
          <p:cNvSpPr txBox="1"/>
          <p:nvPr/>
        </p:nvSpPr>
        <p:spPr>
          <a:xfrm>
            <a:off x="2919519" y="2424419"/>
            <a:ext cx="7165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fr-FR" sz="44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A8AB7FB-F7A1-A022-7ECE-86BDB2DE99F4}"/>
              </a:ext>
            </a:extLst>
          </p:cNvPr>
          <p:cNvSpPr txBox="1"/>
          <p:nvPr/>
        </p:nvSpPr>
        <p:spPr>
          <a:xfrm>
            <a:off x="3410471" y="2428643"/>
            <a:ext cx="8461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fr-FR" sz="4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F26F7EE-036E-BF7A-A9A5-6E7E5B914834}"/>
              </a:ext>
            </a:extLst>
          </p:cNvPr>
          <p:cNvSpPr txBox="1"/>
          <p:nvPr/>
        </p:nvSpPr>
        <p:spPr>
          <a:xfrm>
            <a:off x="3853024" y="2428643"/>
            <a:ext cx="9100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fr-FR" sz="44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233E9B6-F1A7-A7DD-7AE4-E3F6721F6ACA}"/>
              </a:ext>
            </a:extLst>
          </p:cNvPr>
          <p:cNvSpPr txBox="1"/>
          <p:nvPr/>
        </p:nvSpPr>
        <p:spPr>
          <a:xfrm>
            <a:off x="6640266" y="2434855"/>
            <a:ext cx="3610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fr-FR" sz="44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F7E6762-AF6F-78D6-4E8F-7AAC89CF4465}"/>
              </a:ext>
            </a:extLst>
          </p:cNvPr>
          <p:cNvSpPr txBox="1"/>
          <p:nvPr/>
        </p:nvSpPr>
        <p:spPr>
          <a:xfrm>
            <a:off x="6153460" y="2414339"/>
            <a:ext cx="486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fr-FR" sz="44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4DAD335-2258-4E39-A570-4DE6F1D8B561}"/>
              </a:ext>
            </a:extLst>
          </p:cNvPr>
          <p:cNvSpPr txBox="1"/>
          <p:nvPr/>
        </p:nvSpPr>
        <p:spPr>
          <a:xfrm>
            <a:off x="5720092" y="2399305"/>
            <a:ext cx="4828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fr-FR" sz="44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C37EDE8-4E67-42B1-5D63-BADD7D7BFA52}"/>
              </a:ext>
            </a:extLst>
          </p:cNvPr>
          <p:cNvSpPr txBox="1"/>
          <p:nvPr/>
        </p:nvSpPr>
        <p:spPr>
          <a:xfrm>
            <a:off x="5227774" y="2399305"/>
            <a:ext cx="6189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fr-FR" sz="44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7216ADF-0040-BF2A-8C1E-5E6A665956E2}"/>
              </a:ext>
            </a:extLst>
          </p:cNvPr>
          <p:cNvSpPr txBox="1"/>
          <p:nvPr/>
        </p:nvSpPr>
        <p:spPr>
          <a:xfrm>
            <a:off x="4298361" y="2428643"/>
            <a:ext cx="9294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EF2F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fr-FR" sz="4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1793</Words>
  <Application>Microsoft Office PowerPoint</Application>
  <PresentationFormat>Affichage à l'écran (16:9)</PresentationFormat>
  <Paragraphs>337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 &amp; Reading List Manager</dc:title>
  <dc:subject>PptxGenJS Presentation</dc:subject>
  <dc:creator>ISI</dc:creator>
  <cp:lastModifiedBy>user</cp:lastModifiedBy>
  <cp:revision>4</cp:revision>
  <dcterms:created xsi:type="dcterms:W3CDTF">2026-04-06T20:19:19Z</dcterms:created>
  <dcterms:modified xsi:type="dcterms:W3CDTF">2026-04-07T12:01:53Z</dcterms:modified>
</cp:coreProperties>
</file>